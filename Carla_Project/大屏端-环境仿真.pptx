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4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060450" y="3538220"/>
            <a:ext cx="3872865" cy="259715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4800"/>
              <a:t>仿真</a:t>
            </a:r>
            <a:endParaRPr lang="zh-CN" altLang="en-US" sz="4800"/>
          </a:p>
          <a:p>
            <a:pPr algn="ctr"/>
            <a:r>
              <a:rPr lang="zh-CN" altLang="en-US" sz="4800"/>
              <a:t>（计算机）</a:t>
            </a:r>
            <a:endParaRPr lang="zh-CN" altLang="en-US" sz="4800"/>
          </a:p>
        </p:txBody>
      </p:sp>
      <p:sp>
        <p:nvSpPr>
          <p:cNvPr id="2" name="矩形 1"/>
          <p:cNvSpPr/>
          <p:nvPr/>
        </p:nvSpPr>
        <p:spPr>
          <a:xfrm>
            <a:off x="1250950" y="1013460"/>
            <a:ext cx="3491230" cy="168529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/>
              <a:t>大屏（</a:t>
            </a:r>
            <a:r>
              <a:rPr lang="en-US" altLang="zh-CN" sz="2000">
                <a:sym typeface="+mn-ea"/>
              </a:rPr>
              <a:t>1</a:t>
            </a:r>
            <a:r>
              <a:rPr lang="zh-CN" altLang="en-US" sz="2000">
                <a:sym typeface="+mn-ea"/>
              </a:rPr>
              <a:t>、开机运行脚本，自动填充整个大屏。</a:t>
            </a:r>
            <a:endParaRPr lang="zh-CN" altLang="en-US" sz="2000"/>
          </a:p>
          <a:p>
            <a:pPr algn="ctr"/>
            <a:r>
              <a:rPr lang="zh-CN" altLang="en-US" sz="2000"/>
              <a:t>）</a:t>
            </a:r>
            <a:endParaRPr lang="zh-CN" altLang="en-US" sz="2000"/>
          </a:p>
        </p:txBody>
      </p:sp>
      <p:cxnSp>
        <p:nvCxnSpPr>
          <p:cNvPr id="3" name="直接箭头连接符 2"/>
          <p:cNvCxnSpPr>
            <a:stCxn id="4" idx="0"/>
            <a:endCxn id="2" idx="2"/>
          </p:cNvCxnSpPr>
          <p:nvPr/>
        </p:nvCxnSpPr>
        <p:spPr>
          <a:xfrm flipH="1" flipV="1">
            <a:off x="2996565" y="2698750"/>
            <a:ext cx="635" cy="839470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" name="直接箭头连接符 4"/>
          <p:cNvCxnSpPr>
            <a:stCxn id="4" idx="3"/>
          </p:cNvCxnSpPr>
          <p:nvPr/>
        </p:nvCxnSpPr>
        <p:spPr>
          <a:xfrm flipV="1">
            <a:off x="4933315" y="2072005"/>
            <a:ext cx="2018665" cy="2764790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直接箭头连接符 6"/>
          <p:cNvCxnSpPr>
            <a:stCxn id="4" idx="3"/>
          </p:cNvCxnSpPr>
          <p:nvPr/>
        </p:nvCxnSpPr>
        <p:spPr>
          <a:xfrm flipV="1">
            <a:off x="4933315" y="4822190"/>
            <a:ext cx="2573655" cy="14605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7143115" y="690880"/>
            <a:ext cx="3491230" cy="168529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/>
              <a:t>VCU</a:t>
            </a:r>
            <a:r>
              <a:rPr lang="zh-CN" altLang="en-US" sz="2000"/>
              <a:t>（需要提供给</a:t>
            </a:r>
            <a:r>
              <a:rPr lang="en-US" altLang="zh-CN" sz="2000"/>
              <a:t>vcu</a:t>
            </a:r>
            <a:r>
              <a:rPr lang="zh-CN" altLang="en-US" sz="2000"/>
              <a:t>各类数据，数据要求详见表格并加以修改）</a:t>
            </a:r>
            <a:endParaRPr lang="zh-CN" altLang="en-US" sz="2000"/>
          </a:p>
        </p:txBody>
      </p:sp>
      <p:sp>
        <p:nvSpPr>
          <p:cNvPr id="10" name="矩形 9"/>
          <p:cNvSpPr/>
          <p:nvPr/>
        </p:nvSpPr>
        <p:spPr>
          <a:xfrm>
            <a:off x="7553325" y="4067175"/>
            <a:ext cx="3491230" cy="168529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/>
              <a:t>配置机（</a:t>
            </a:r>
            <a:r>
              <a:rPr lang="en-US" altLang="zh-CN" sz="2000"/>
              <a:t>json</a:t>
            </a:r>
            <a:r>
              <a:rPr lang="zh-CN" altLang="en-US" sz="2000"/>
              <a:t>传输）</a:t>
            </a:r>
            <a:endParaRPr lang="zh-CN" altLang="en-US" sz="2000"/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421005" y="102870"/>
            <a:ext cx="1432560" cy="58801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/>
              <a:t>智驾模式</a:t>
            </a:r>
            <a:endParaRPr lang="zh-CN" altLang="en-US" sz="2000"/>
          </a:p>
        </p:txBody>
      </p:sp>
      <p:sp>
        <p:nvSpPr>
          <p:cNvPr id="10" name="矩形 9"/>
          <p:cNvSpPr/>
          <p:nvPr/>
        </p:nvSpPr>
        <p:spPr>
          <a:xfrm>
            <a:off x="4350385" y="337185"/>
            <a:ext cx="3491230" cy="72961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/>
              <a:t>配置机（</a:t>
            </a:r>
            <a:r>
              <a:rPr lang="en-US" altLang="zh-CN" sz="2000"/>
              <a:t>json</a:t>
            </a:r>
            <a:r>
              <a:rPr lang="zh-CN" altLang="en-US" sz="2000"/>
              <a:t>传输）</a:t>
            </a:r>
            <a:endParaRPr lang="zh-CN" altLang="en-US" sz="200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2470" y="1438910"/>
            <a:ext cx="8339455" cy="4707890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9403080" y="3101975"/>
            <a:ext cx="2141855" cy="72961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2000"/>
              <a:t>需要提供参数列表</a:t>
            </a:r>
            <a:endParaRPr lang="zh-CN" sz="2000"/>
          </a:p>
        </p:txBody>
      </p:sp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159885" y="103505"/>
            <a:ext cx="3872865" cy="171704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4800"/>
              <a:t>环境仿真（要求）</a:t>
            </a:r>
            <a:endParaRPr lang="zh-CN" altLang="en-US" sz="4800"/>
          </a:p>
        </p:txBody>
      </p:sp>
      <p:sp>
        <p:nvSpPr>
          <p:cNvPr id="2" name="矩形 1"/>
          <p:cNvSpPr/>
          <p:nvPr/>
        </p:nvSpPr>
        <p:spPr>
          <a:xfrm>
            <a:off x="1222375" y="2105025"/>
            <a:ext cx="9747885" cy="425640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/>
              <a:t>（</a:t>
            </a:r>
            <a:r>
              <a:rPr lang="en-US" altLang="zh-CN"/>
              <a:t>5</a:t>
            </a:r>
            <a:r>
              <a:rPr lang="zh-CN" altLang="en-US"/>
              <a:t>）光照与天气：</a:t>
            </a:r>
            <a:endParaRPr lang="zh-CN" altLang="en-US"/>
          </a:p>
          <a:p>
            <a:pPr algn="l"/>
            <a:r>
              <a:rPr lang="zh-CN" altLang="en-US"/>
              <a:t>支持</a:t>
            </a:r>
            <a:r>
              <a:rPr lang="en-US" altLang="zh-CN"/>
              <a:t>24</a:t>
            </a:r>
            <a:r>
              <a:rPr lang="zh-CN" altLang="en-US"/>
              <a:t>小时光照变化（太阳位置、车辆灯光、环境灯光、反射、炫光、阴影）。</a:t>
            </a:r>
            <a:endParaRPr lang="zh-CN" altLang="en-US"/>
          </a:p>
          <a:p>
            <a:pPr algn="l"/>
            <a:r>
              <a:rPr lang="zh-CN" altLang="en-US"/>
              <a:t>支持物理真实的天空、云、雨、雾等天气系统。</a:t>
            </a:r>
            <a:endParaRPr lang="zh-CN" altLang="en-US"/>
          </a:p>
          <a:p>
            <a:pPr algn="l"/>
            <a:r>
              <a:rPr lang="zh-CN" altLang="en-US"/>
              <a:t>（</a:t>
            </a:r>
            <a:r>
              <a:rPr lang="en-US" altLang="zh-CN"/>
              <a:t>6</a:t>
            </a:r>
            <a:r>
              <a:rPr lang="zh-CN" altLang="en-US"/>
              <a:t>）场景类型与数量：</a:t>
            </a:r>
            <a:endParaRPr lang="zh-CN" altLang="en-US"/>
          </a:p>
          <a:p>
            <a:pPr algn="l"/>
            <a:r>
              <a:rPr lang="zh-CN" altLang="en-US"/>
              <a:t>日常驾驶场景：包含城市道路、高速公路、复杂交通及多种天气条件。</a:t>
            </a:r>
            <a:endParaRPr lang="zh-CN" altLang="en-US"/>
          </a:p>
          <a:p>
            <a:pPr algn="l"/>
            <a:r>
              <a:rPr lang="zh-CN" altLang="en-US"/>
              <a:t>交通参与者库：至少包含</a:t>
            </a:r>
            <a:r>
              <a:rPr lang="en-US" altLang="zh-CN"/>
              <a:t>10</a:t>
            </a:r>
            <a:r>
              <a:rPr lang="zh-CN" altLang="en-US"/>
              <a:t>类车模型、</a:t>
            </a:r>
            <a:r>
              <a:rPr lang="en-US" altLang="zh-CN"/>
              <a:t>10</a:t>
            </a:r>
            <a:r>
              <a:rPr lang="zh-CN" altLang="en-US"/>
              <a:t>类中国特色交通标准库、</a:t>
            </a:r>
            <a:r>
              <a:rPr lang="en-US" altLang="zh-CN"/>
              <a:t>16</a:t>
            </a:r>
            <a:r>
              <a:rPr lang="zh-CN" altLang="en-US"/>
              <a:t>类路障、</a:t>
            </a:r>
            <a:r>
              <a:rPr lang="en-US" altLang="zh-CN"/>
              <a:t>4</a:t>
            </a:r>
            <a:r>
              <a:rPr lang="zh-CN" altLang="en-US"/>
              <a:t>类覆盖物、</a:t>
            </a:r>
            <a:r>
              <a:rPr lang="en-US" altLang="zh-CN"/>
              <a:t>1</a:t>
            </a:r>
            <a:r>
              <a:rPr lang="zh-CN" altLang="en-US"/>
              <a:t>类井盖、</a:t>
            </a:r>
            <a:r>
              <a:rPr lang="en-US" altLang="zh-CN"/>
              <a:t>15</a:t>
            </a:r>
            <a:r>
              <a:rPr lang="zh-CN" altLang="en-US"/>
              <a:t>类普通对手车、</a:t>
            </a:r>
            <a:r>
              <a:rPr lang="en-US" altLang="zh-CN"/>
              <a:t>1</a:t>
            </a:r>
            <a:r>
              <a:rPr lang="zh-CN" altLang="en-US"/>
              <a:t>类紧急对手车、</a:t>
            </a:r>
            <a:r>
              <a:rPr lang="en-US" altLang="zh-CN"/>
              <a:t>5</a:t>
            </a:r>
            <a:r>
              <a:rPr lang="zh-CN" altLang="en-US"/>
              <a:t>类行人、</a:t>
            </a:r>
            <a:r>
              <a:rPr lang="en-US" altLang="zh-CN"/>
              <a:t>2</a:t>
            </a:r>
            <a:r>
              <a:rPr lang="zh-CN" altLang="en-US"/>
              <a:t>类自行车、</a:t>
            </a:r>
            <a:r>
              <a:rPr lang="en-US" altLang="zh-CN"/>
              <a:t>1</a:t>
            </a:r>
            <a:r>
              <a:rPr lang="zh-CN" altLang="en-US"/>
              <a:t>类动物。支持用户自定义导入。</a:t>
            </a:r>
            <a:endParaRPr lang="zh-CN" altLang="en-US"/>
          </a:p>
          <a:p>
            <a:pPr algn="l"/>
            <a:r>
              <a:rPr lang="zh-CN" altLang="en-US"/>
              <a:t>标准试验场场景：支持用户开展整车六大性能试验，并提供考核评价系统。</a:t>
            </a:r>
            <a:endParaRPr lang="zh-CN" altLang="en-US"/>
          </a:p>
          <a:p>
            <a:pPr algn="l"/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421005" y="102870"/>
            <a:ext cx="1432560" cy="58801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/>
              <a:t>智驾整体流程</a:t>
            </a:r>
            <a:endParaRPr lang="zh-CN" altLang="en-US" sz="2000"/>
          </a:p>
        </p:txBody>
      </p:sp>
      <p:sp>
        <p:nvSpPr>
          <p:cNvPr id="5" name="矩形 4"/>
          <p:cNvSpPr/>
          <p:nvPr/>
        </p:nvSpPr>
        <p:spPr>
          <a:xfrm>
            <a:off x="4581525" y="837565"/>
            <a:ext cx="3028315" cy="58801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/>
              <a:t>设备开机</a:t>
            </a:r>
            <a:r>
              <a:rPr lang="en-US" altLang="zh-CN" sz="2000"/>
              <a:t>-</a:t>
            </a:r>
            <a:r>
              <a:rPr lang="zh-CN" altLang="en-US" sz="2000"/>
              <a:t>自动运行环境仿真</a:t>
            </a:r>
            <a:endParaRPr lang="zh-CN" altLang="en-US" sz="2000"/>
          </a:p>
        </p:txBody>
      </p:sp>
      <p:sp>
        <p:nvSpPr>
          <p:cNvPr id="6" name="矩形 5"/>
          <p:cNvSpPr/>
          <p:nvPr/>
        </p:nvSpPr>
        <p:spPr>
          <a:xfrm>
            <a:off x="4581525" y="1797050"/>
            <a:ext cx="3028315" cy="58801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2000"/>
              <a:t>等待为智驾模式</a:t>
            </a:r>
            <a:endParaRPr lang="en-US" altLang="zh-CN" sz="2000"/>
          </a:p>
        </p:txBody>
      </p:sp>
      <p:sp>
        <p:nvSpPr>
          <p:cNvPr id="7" name="矩形 6"/>
          <p:cNvSpPr/>
          <p:nvPr/>
        </p:nvSpPr>
        <p:spPr>
          <a:xfrm>
            <a:off x="4581525" y="2756535"/>
            <a:ext cx="3028315" cy="58801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2000"/>
              <a:t>读取配置机</a:t>
            </a:r>
            <a:r>
              <a:rPr lang="en-US" altLang="zh-CN" sz="2000"/>
              <a:t>json</a:t>
            </a:r>
            <a:r>
              <a:rPr lang="zh-CN" altLang="en-US" sz="2000"/>
              <a:t>数据，进行相关配置</a:t>
            </a:r>
            <a:endParaRPr lang="zh-CN" altLang="en-US" sz="2000"/>
          </a:p>
        </p:txBody>
      </p:sp>
      <p:sp>
        <p:nvSpPr>
          <p:cNvPr id="8" name="矩形 7"/>
          <p:cNvSpPr/>
          <p:nvPr/>
        </p:nvSpPr>
        <p:spPr>
          <a:xfrm>
            <a:off x="4581525" y="3716020"/>
            <a:ext cx="3028315" cy="58801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2000"/>
              <a:t>配置完成后对</a:t>
            </a:r>
            <a:r>
              <a:rPr lang="zh-CN" altLang="en-US" sz="2000"/>
              <a:t>整车控制器进行数据交互</a:t>
            </a:r>
            <a:endParaRPr lang="zh-CN" altLang="en-US" sz="2000"/>
          </a:p>
        </p:txBody>
      </p:sp>
      <p:sp>
        <p:nvSpPr>
          <p:cNvPr id="10" name="矩形 9"/>
          <p:cNvSpPr/>
          <p:nvPr/>
        </p:nvSpPr>
        <p:spPr>
          <a:xfrm>
            <a:off x="4581525" y="4675505"/>
            <a:ext cx="3028315" cy="58801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2000"/>
              <a:t>同时开启自动智驾</a:t>
            </a:r>
            <a:endParaRPr lang="zh-CN" altLang="en-US" sz="2000"/>
          </a:p>
        </p:txBody>
      </p:sp>
      <p:cxnSp>
        <p:nvCxnSpPr>
          <p:cNvPr id="12" name="直接箭头连接符 11"/>
          <p:cNvCxnSpPr>
            <a:stCxn id="5" idx="2"/>
            <a:endCxn id="6" idx="0"/>
          </p:cNvCxnSpPr>
          <p:nvPr/>
        </p:nvCxnSpPr>
        <p:spPr>
          <a:xfrm>
            <a:off x="6096000" y="1425575"/>
            <a:ext cx="0" cy="371475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>
            <a:stCxn id="6" idx="2"/>
            <a:endCxn id="7" idx="0"/>
          </p:cNvCxnSpPr>
          <p:nvPr/>
        </p:nvCxnSpPr>
        <p:spPr>
          <a:xfrm>
            <a:off x="6096000" y="2385060"/>
            <a:ext cx="0" cy="371475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>
            <a:stCxn id="7" idx="2"/>
            <a:endCxn id="8" idx="0"/>
          </p:cNvCxnSpPr>
          <p:nvPr/>
        </p:nvCxnSpPr>
        <p:spPr>
          <a:xfrm>
            <a:off x="6096000" y="3344545"/>
            <a:ext cx="0" cy="371475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>
            <a:stCxn id="8" idx="2"/>
            <a:endCxn id="10" idx="0"/>
          </p:cNvCxnSpPr>
          <p:nvPr/>
        </p:nvCxnSpPr>
        <p:spPr>
          <a:xfrm>
            <a:off x="6096000" y="4304030"/>
            <a:ext cx="0" cy="371475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4581525" y="5634990"/>
            <a:ext cx="3028315" cy="58801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2000"/>
              <a:t>停止智驾命令后停止</a:t>
            </a:r>
            <a:endParaRPr lang="zh-CN" altLang="en-US" sz="2000"/>
          </a:p>
        </p:txBody>
      </p:sp>
      <p:cxnSp>
        <p:nvCxnSpPr>
          <p:cNvPr id="17" name="直接箭头连接符 16"/>
          <p:cNvCxnSpPr>
            <a:stCxn id="10" idx="2"/>
            <a:endCxn id="16" idx="0"/>
          </p:cNvCxnSpPr>
          <p:nvPr/>
        </p:nvCxnSpPr>
        <p:spPr>
          <a:xfrm>
            <a:off x="6096000" y="5263515"/>
            <a:ext cx="0" cy="371475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421005" y="102870"/>
            <a:ext cx="1432560" cy="58801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/>
              <a:t>手驾整体流程</a:t>
            </a:r>
            <a:endParaRPr lang="zh-CN" altLang="en-US" sz="2000"/>
          </a:p>
        </p:txBody>
      </p:sp>
      <p:sp>
        <p:nvSpPr>
          <p:cNvPr id="5" name="矩形 4"/>
          <p:cNvSpPr/>
          <p:nvPr/>
        </p:nvSpPr>
        <p:spPr>
          <a:xfrm>
            <a:off x="4581525" y="837565"/>
            <a:ext cx="3028315" cy="58801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/>
              <a:t>设备开机</a:t>
            </a:r>
            <a:r>
              <a:rPr lang="en-US" altLang="zh-CN" sz="2000"/>
              <a:t>-</a:t>
            </a:r>
            <a:r>
              <a:rPr lang="zh-CN" altLang="en-US" sz="2000"/>
              <a:t>自动运行环境仿真</a:t>
            </a:r>
            <a:endParaRPr lang="zh-CN" altLang="en-US" sz="2000"/>
          </a:p>
        </p:txBody>
      </p:sp>
      <p:sp>
        <p:nvSpPr>
          <p:cNvPr id="6" name="矩形 5"/>
          <p:cNvSpPr/>
          <p:nvPr/>
        </p:nvSpPr>
        <p:spPr>
          <a:xfrm>
            <a:off x="4581525" y="1797050"/>
            <a:ext cx="3028315" cy="58801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2000"/>
              <a:t>等待为手驾模式</a:t>
            </a:r>
            <a:endParaRPr lang="en-US" altLang="zh-CN" sz="2000"/>
          </a:p>
        </p:txBody>
      </p:sp>
      <p:sp>
        <p:nvSpPr>
          <p:cNvPr id="7" name="矩形 6"/>
          <p:cNvSpPr/>
          <p:nvPr/>
        </p:nvSpPr>
        <p:spPr>
          <a:xfrm>
            <a:off x="4581525" y="2756535"/>
            <a:ext cx="3028315" cy="58801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2000"/>
              <a:t>读取配置机</a:t>
            </a:r>
            <a:r>
              <a:rPr lang="en-US" altLang="zh-CN" sz="2000"/>
              <a:t>json</a:t>
            </a:r>
            <a:r>
              <a:rPr lang="zh-CN" altLang="en-US" sz="2000"/>
              <a:t>数据，进行相关配置</a:t>
            </a:r>
            <a:endParaRPr lang="zh-CN" altLang="en-US" sz="2000"/>
          </a:p>
        </p:txBody>
      </p:sp>
      <p:sp>
        <p:nvSpPr>
          <p:cNvPr id="8" name="矩形 7"/>
          <p:cNvSpPr/>
          <p:nvPr/>
        </p:nvSpPr>
        <p:spPr>
          <a:xfrm>
            <a:off x="4581525" y="3716020"/>
            <a:ext cx="3028315" cy="58801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2000"/>
              <a:t>配置完成后对</a:t>
            </a:r>
            <a:r>
              <a:rPr lang="zh-CN" altLang="en-US" sz="2000"/>
              <a:t>整车控制器进行数据交互</a:t>
            </a:r>
            <a:endParaRPr lang="zh-CN" altLang="en-US" sz="2000"/>
          </a:p>
        </p:txBody>
      </p:sp>
      <p:sp>
        <p:nvSpPr>
          <p:cNvPr id="10" name="矩形 9"/>
          <p:cNvSpPr/>
          <p:nvPr/>
        </p:nvSpPr>
        <p:spPr>
          <a:xfrm>
            <a:off x="4581525" y="4675505"/>
            <a:ext cx="3028315" cy="58801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/>
              <a:t>根据整车控制器参数进行相关动作</a:t>
            </a:r>
            <a:endParaRPr lang="zh-CN" altLang="en-US" sz="2000"/>
          </a:p>
        </p:txBody>
      </p:sp>
      <p:cxnSp>
        <p:nvCxnSpPr>
          <p:cNvPr id="12" name="直接箭头连接符 11"/>
          <p:cNvCxnSpPr>
            <a:stCxn id="5" idx="2"/>
            <a:endCxn id="6" idx="0"/>
          </p:cNvCxnSpPr>
          <p:nvPr/>
        </p:nvCxnSpPr>
        <p:spPr>
          <a:xfrm>
            <a:off x="6096000" y="1425575"/>
            <a:ext cx="0" cy="371475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>
            <a:stCxn id="6" idx="2"/>
            <a:endCxn id="7" idx="0"/>
          </p:cNvCxnSpPr>
          <p:nvPr/>
        </p:nvCxnSpPr>
        <p:spPr>
          <a:xfrm>
            <a:off x="6096000" y="2385060"/>
            <a:ext cx="0" cy="371475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>
            <a:stCxn id="7" idx="2"/>
            <a:endCxn id="8" idx="0"/>
          </p:cNvCxnSpPr>
          <p:nvPr/>
        </p:nvCxnSpPr>
        <p:spPr>
          <a:xfrm>
            <a:off x="6096000" y="3344545"/>
            <a:ext cx="0" cy="371475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>
            <a:stCxn id="8" idx="2"/>
            <a:endCxn id="10" idx="0"/>
          </p:cNvCxnSpPr>
          <p:nvPr/>
        </p:nvCxnSpPr>
        <p:spPr>
          <a:xfrm>
            <a:off x="6096000" y="4304030"/>
            <a:ext cx="0" cy="371475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4581525" y="5634990"/>
            <a:ext cx="3028315" cy="58801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2000"/>
              <a:t>等待停止</a:t>
            </a:r>
            <a:endParaRPr lang="zh-CN" altLang="en-US" sz="2000"/>
          </a:p>
        </p:txBody>
      </p:sp>
      <p:cxnSp>
        <p:nvCxnSpPr>
          <p:cNvPr id="17" name="直接箭头连接符 16"/>
          <p:cNvCxnSpPr>
            <a:stCxn id="10" idx="2"/>
            <a:endCxn id="16" idx="0"/>
          </p:cNvCxnSpPr>
          <p:nvPr/>
        </p:nvCxnSpPr>
        <p:spPr>
          <a:xfrm>
            <a:off x="6096000" y="5263515"/>
            <a:ext cx="0" cy="371475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492</Words>
  <Application>WPS 演示</Application>
  <PresentationFormat>宽屏</PresentationFormat>
  <Paragraphs>55</Paragraphs>
  <Slides>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3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无世</cp:lastModifiedBy>
  <cp:revision>166</cp:revision>
  <dcterms:created xsi:type="dcterms:W3CDTF">2019-06-19T02:08:00Z</dcterms:created>
  <dcterms:modified xsi:type="dcterms:W3CDTF">2026-04-10T02:46:20Z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22D4C61CADB14FF18E5BF302B0BE0FAE_11</vt:lpwstr>
  </property>
</Properties>
</file>